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a74947a3ef45a4" /><Relationship Type="http://schemas.openxmlformats.org/officeDocument/2006/relationships/extended-properties" Target="/docProps/app.xml" Id="R09aa2ec9365146ff" /><Relationship Type="http://schemas.openxmlformats.org/officeDocument/2006/relationships/officeDocument" Target="/ppt/presentation.xml" Id="Rbe1449d31a764e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4d7d306cd94fc9"/>
  </p:sldMasterIdLst>
  <p:notesMasterIdLst>
    <p:notesMasterId xmlns:r="http://schemas.openxmlformats.org/officeDocument/2006/relationships" r:id="Rb4def90f38394632"/>
  </p:notesMasterIdLst>
  <p:sldIdLst>
    <p:sldId xmlns:r="http://schemas.openxmlformats.org/officeDocument/2006/relationships" id="256" r:id="R34264a59f3c34568"/>
    <p:sldId xmlns:r="http://schemas.openxmlformats.org/officeDocument/2006/relationships" id="257" r:id="Rc9a34546aea0462f"/>
    <p:sldId xmlns:r="http://schemas.openxmlformats.org/officeDocument/2006/relationships" id="258" r:id="R8c1e6582611547c6"/>
    <p:sldId xmlns:r="http://schemas.openxmlformats.org/officeDocument/2006/relationships" id="259" r:id="Rdfb16257c7744f66"/>
    <p:sldId xmlns:r="http://schemas.openxmlformats.org/officeDocument/2006/relationships" id="260" r:id="Rf2b04dac892e4ebf"/>
    <p:sldId xmlns:r="http://schemas.openxmlformats.org/officeDocument/2006/relationships" id="261" r:id="R3fd73ab8f8a54e86"/>
    <p:sldId xmlns:r="http://schemas.openxmlformats.org/officeDocument/2006/relationships" id="262" r:id="Ra915659148ed429d"/>
    <p:sldId xmlns:r="http://schemas.openxmlformats.org/officeDocument/2006/relationships" id="263" r:id="R62a785ba676b4d8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20f08fd06c744a6" /><Relationship Type="http://schemas.openxmlformats.org/officeDocument/2006/relationships/slideMaster" Target="/ppt/slideMasters/slideMaster1.xml" Id="R664d7d306cd94fc9" /><Relationship Type="http://schemas.openxmlformats.org/officeDocument/2006/relationships/notesMaster" Target="/ppt/notesMasters/notesMaster1.xml" Id="Rb4def90f38394632" /><Relationship Type="http://schemas.openxmlformats.org/officeDocument/2006/relationships/presProps" Target="/ppt/presProps.xml" Id="R0fbf38ccbbee4486" /><Relationship Type="http://schemas.openxmlformats.org/officeDocument/2006/relationships/tableStyles" Target="/ppt/tableStyles.xml" Id="R8040d550f35546ac" /><Relationship Type="http://schemas.openxmlformats.org/officeDocument/2006/relationships/slide" Target="/ppt/slides/slide1.xml" Id="R34264a59f3c34568" /><Relationship Type="http://schemas.openxmlformats.org/officeDocument/2006/relationships/slide" Target="/ppt/slides/slide2.xml" Id="Rc9a34546aea0462f" /><Relationship Type="http://schemas.openxmlformats.org/officeDocument/2006/relationships/slide" Target="/ppt/slides/slide3.xml" Id="R8c1e6582611547c6" /><Relationship Type="http://schemas.openxmlformats.org/officeDocument/2006/relationships/slide" Target="/ppt/slides/slide4.xml" Id="Rdfb16257c7744f66" /><Relationship Type="http://schemas.openxmlformats.org/officeDocument/2006/relationships/slide" Target="/ppt/slides/slide5.xml" Id="Rf2b04dac892e4ebf" /><Relationship Type="http://schemas.openxmlformats.org/officeDocument/2006/relationships/slide" Target="/ppt/slides/slide6.xml" Id="R3fd73ab8f8a54e86" /><Relationship Type="http://schemas.openxmlformats.org/officeDocument/2006/relationships/slide" Target="/ppt/slides/slide7.xml" Id="Ra915659148ed429d" /><Relationship Type="http://schemas.openxmlformats.org/officeDocument/2006/relationships/slide" Target="/ppt/slides/slide8.xml" Id="R62a785ba676b4d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819321ecb3847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3925d6dd374c93" /><Relationship Type="http://schemas.openxmlformats.org/officeDocument/2006/relationships/notesMaster" Target="/ppt/notesMasters/notesMaster1.xml" Id="Rb216ec87674a4ae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9f6c52d3fb4fdc" /><Relationship Type="http://schemas.openxmlformats.org/officeDocument/2006/relationships/notesMaster" Target="/ppt/notesMasters/notesMaster1.xml" Id="Re8b3d4bc16b84ce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4dd5e38e85c4f2a" /><Relationship Type="http://schemas.openxmlformats.org/officeDocument/2006/relationships/notesMaster" Target="/ppt/notesMasters/notesMaster1.xml" Id="R383f3cd71c15445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0e1e1058805488d" /><Relationship Type="http://schemas.openxmlformats.org/officeDocument/2006/relationships/notesMaster" Target="/ppt/notesMasters/notesMaster1.xml" Id="R0d0d9d24977f429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db99b5c69de486f" /><Relationship Type="http://schemas.openxmlformats.org/officeDocument/2006/relationships/notesMaster" Target="/ppt/notesMasters/notesMaster1.xml" Id="Reb396e10cb5d4e9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900d58a6a5b49c0" /><Relationship Type="http://schemas.openxmlformats.org/officeDocument/2006/relationships/notesMaster" Target="/ppt/notesMasters/notesMaster1.xml" Id="R538f5d7728e14ef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d8ef958998d46d5" /><Relationship Type="http://schemas.openxmlformats.org/officeDocument/2006/relationships/notesMaster" Target="/ppt/notesMasters/notesMaster1.xml" Id="Re23e70d592464fc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0b97d7dd92d4aef" /><Relationship Type="http://schemas.openxmlformats.org/officeDocument/2006/relationships/notesMaster" Target="/ppt/notesMasters/notesMaster1.xml" Id="Rc079424d5d8e4bd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on the core promise: DDU Mirror turns scattered public evidence into an explainable graph a person can verify and act 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C:\DDU\README.md</a:t>
            </a:r>
          </a:p>
          <a:p xmlns:a="http://schemas.openxmlformats.org/drawingml/2006/main">
            <a:r>
              <a:t>- C:\DDU\docs\engineer-d-demo-script.md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product around linked exposure, progressive verification, and consequence-aware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C:\DDU\docs\product-design-document.md</a:t>
            </a:r>
          </a:p>
          <a:p xmlns:a="http://schemas.openxmlformats.org/drawingml/2006/main">
            <a:r>
              <a:t>- C:\DDU\services\ddu-mirror-intel\CONTRACT.md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the three surfaces judges see: the spatial model, the evidence proof, and privacy-disciplined voice.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C:\DDU\ui\ddu-ui\README.md</a:t>
            </a:r>
          </a:p>
          <a:p xmlns:a="http://schemas.openxmlformats.org/drawingml/2006/main">
            <a:r>
              <a:t>- C:\DDU\docs\system-card-mirror-experience.md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visual properties are contract-bound backend fields rather than decorative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C:\DDU\services\ddu-mirror-intel\CONTRACT.md</a:t>
            </a:r>
          </a:p>
          <a:p xmlns:a="http://schemas.openxmlformats.org/drawingml/2006/main">
            <a:r>
              <a:t>- C:\DDU\docs\product-design-document.md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approval, rejection, and reconciliation as one continuous loop rather than separate screens.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C:\DDU\docs\engineer-d-demo-script.md</a:t>
            </a:r>
          </a:p>
          <a:p xmlns:a="http://schemas.openxmlformats.org/drawingml/2006/main">
            <a:r>
              <a:t>- C:\DDU\services\ddu-mirror-intel\CONTRACT.md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illustrative values only to explain interaction behavior; they are not a measured efficacy claim.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C:\DDU\docs\engineer-d-demo-script.md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the safety model concrete by pointing to controls the user can see and verify during the demo.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C:\DDU\docs\system-card-mirror-experience.md</a:t>
            </a:r>
          </a:p>
          <a:p xmlns:a="http://schemas.openxmlformats.org/drawingml/2006/main">
            <a:r>
              <a:t>- C:\DDU\ui\ddu-ui\README.md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restating the differentiator: not another static scan, but a live decision surface that stays grounded as the user corrects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C:\DDU\README.md</a:t>
            </a:r>
          </a:p>
          <a:p xmlns:a="http://schemas.openxmlformats.org/drawingml/2006/main">
            <a:r>
              <a:t>- C:\DDU\docs\engineer-d-demo-script.md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bffce458f540f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e0a815474714f7e" /><Relationship Type="http://schemas.openxmlformats.org/officeDocument/2006/relationships/slideLayout" Target="/ppt/slideLayouts/slideLayout1.xml" Id="Ra540f3a2bb924cf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40f3a2bb924cf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7e88dbe90e40c3" /><Relationship Type="http://schemas.openxmlformats.org/officeDocument/2006/relationships/notesSlide" Target="/ppt/notesSlides/notesSlide1.xml" Id="R8e54f071535b42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d511457dde4070" /><Relationship Type="http://schemas.openxmlformats.org/officeDocument/2006/relationships/notesSlide" Target="/ppt/notesSlides/notesSlide2.xml" Id="Rf056c60793c042d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7ee67f038e4e04" /><Relationship Type="http://schemas.openxmlformats.org/officeDocument/2006/relationships/notesSlide" Target="/ppt/notesSlides/notesSlide3.xml" Id="R30eb8cdd6ede44d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4b9c926b394448" /><Relationship Type="http://schemas.openxmlformats.org/officeDocument/2006/relationships/notesSlide" Target="/ppt/notesSlides/notesSlide4.xml" Id="Rf89aa762a61a462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6a1513605d42ea" /><Relationship Type="http://schemas.openxmlformats.org/officeDocument/2006/relationships/notesSlide" Target="/ppt/notesSlides/notesSlide5.xml" Id="R4411e4835ff3405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d98cc1be4c463b" /><Relationship Type="http://schemas.openxmlformats.org/officeDocument/2006/relationships/notesSlide" Target="/ppt/notesSlides/notesSlide6.xml" Id="Rda5cfec4fed14fe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b16f6e24564ec6" /><Relationship Type="http://schemas.openxmlformats.org/officeDocument/2006/relationships/notesSlide" Target="/ppt/notesSlides/notesSlide7.xml" Id="Rb513b1d25cf5407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9a3b637bff4a5a" /><Relationship Type="http://schemas.openxmlformats.org/officeDocument/2006/relationships/notesSlide" Target="/ppt/notesSlides/notesSlide8.xml" Id="R3ff147d72e82461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3-1">
            <a:extLst xmlns:a="http://schemas.openxmlformats.org/drawingml/2006/main">
              <a:ext uri="{FF2B5EF4-FFF2-40B4-BE49-F238E27FC236}">
                <a16:creationId xmlns:a16="http://schemas.microsoft.com/office/drawing/2014/main" id="{31D792BD-64E6-46BB-9433-627101D71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See the exposure.
Verify the story.
Break the path.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398EBA74-4A2F-4AF2-9162-CA9D4F21C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live, privacy-first identity exposure graph built for decisive remediation.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0BC416E0-F016-4586-B709-C7ED6265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DDU MIRROR</a:t>
            </a:r>
          </a:p>
        </p:txBody>
      </p:sp>
      <p:sp>
        <p:nvSpPr>
          <p:cNvPr id="4" name="accent-1">
            <a:extLst xmlns:a="http://schemas.openxmlformats.org/drawingml/2006/main">
              <a:ext uri="{FF2B5EF4-FFF2-40B4-BE49-F238E27FC236}">
                <a16:creationId xmlns:a16="http://schemas.microsoft.com/office/drawing/2014/main" id="{CA56E38E-CF41-4C48-A82B-1C85BAF7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D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node-888-0">
            <a:extLst xmlns:a="http://schemas.openxmlformats.org/drawingml/2006/main">
              <a:ext uri="{FF2B5EF4-FFF2-40B4-BE49-F238E27FC236}">
                <a16:creationId xmlns:a16="http://schemas.microsoft.com/office/drawing/2014/main" id="{032F5D11-852B-430A-BC75-B729EDEA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838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5DF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6" name="path-888-1">
            <a:extLst xmlns:a="http://schemas.openxmlformats.org/drawingml/2006/main">
              <a:ext uri="{FF2B5EF4-FFF2-40B4-BE49-F238E27FC236}">
                <a16:creationId xmlns:a16="http://schemas.microsoft.com/office/drawing/2014/main" id="{B3F2C490-E95E-4458-94E2-8D6746C18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652963"/>
            <a:ext cx="642938" cy="347663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6D5DFB"/>
            </a:solidFill>
            <a:prstDash val="solid"/>
          </a:ln>
        </p:spPr>
      </p:sp>
      <p:sp>
        <p:nvSpPr>
          <p:cNvPr id="7" name="node-888-1">
            <a:extLst xmlns:a="http://schemas.openxmlformats.org/drawingml/2006/main">
              <a:ext uri="{FF2B5EF4-FFF2-40B4-BE49-F238E27FC236}">
                <a16:creationId xmlns:a16="http://schemas.microsoft.com/office/drawing/2014/main" id="{386F6822-ACE0-4D20-9491-D774DAF9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53390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8A6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8" name="path-888-2">
            <a:extLst xmlns:a="http://schemas.openxmlformats.org/drawingml/2006/main">
              <a:ext uri="{FF2B5EF4-FFF2-40B4-BE49-F238E27FC236}">
                <a16:creationId xmlns:a16="http://schemas.microsoft.com/office/drawing/2014/main" id="{BF0A5FE9-48D2-4B18-B116-878F3E262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3063" y="4652963"/>
            <a:ext cx="385763" cy="785813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6D5DFB"/>
            </a:solidFill>
            <a:prstDash val="solid"/>
          </a:ln>
        </p:spPr>
      </p:sp>
      <p:sp>
        <p:nvSpPr>
          <p:cNvPr id="9" name="node-888-2">
            <a:extLst xmlns:a="http://schemas.openxmlformats.org/drawingml/2006/main">
              <a:ext uri="{FF2B5EF4-FFF2-40B4-BE49-F238E27FC236}">
                <a16:creationId xmlns:a16="http://schemas.microsoft.com/office/drawing/2014/main" id="{F528389B-C50A-4325-B6F1-B37A6F0FD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238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65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0" name="path-888-3">
            <a:extLst xmlns:a="http://schemas.openxmlformats.org/drawingml/2006/main">
              <a:ext uri="{FF2B5EF4-FFF2-40B4-BE49-F238E27FC236}">
                <a16:creationId xmlns:a16="http://schemas.microsoft.com/office/drawing/2014/main" id="{B3DBFE54-F130-41D9-93DC-52A56D2D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5000625"/>
            <a:ext cx="628650" cy="43815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6D5DFB"/>
            </a:solidFill>
            <a:prstDash val="solid"/>
          </a:ln>
        </p:spPr>
      </p:sp>
      <p:sp>
        <p:nvSpPr>
          <p:cNvPr id="11" name="node-888-3">
            <a:extLst xmlns:a="http://schemas.openxmlformats.org/drawingml/2006/main">
              <a:ext uri="{FF2B5EF4-FFF2-40B4-BE49-F238E27FC236}">
                <a16:creationId xmlns:a16="http://schemas.microsoft.com/office/drawing/2014/main" id="{BFA0C1E0-299B-4F7C-BD4A-B650295A2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8577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5A7C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1253954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CDFFE5CA-99EB-4B7D-A3D6-35C8F003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8926693D-CC67-4017-9989-14EB2A679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problem is not one leak. It is the path between them.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7DAE116F-4188-4DE8-BB0E-BA100375D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DISCOVER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Public evidence arrives fragmented across usernames, breaches, profiles, and places.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1652858B-CDA0-407A-BDD7-EBB72DF99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ACT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People need a reversible way to test remediation before changing real accounts.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CF533AE4-9727-4DBD-8976-B329FC3A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VERIFY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Ambiguous matches become dangerous when a system presents inference as fact.</a:t>
            </a:r>
          </a:p>
        </p:txBody>
      </p:sp>
      <p:sp>
        <p:nvSpPr>
          <p:cNvPr id="6" name="accent-2">
            <a:extLst xmlns:a="http://schemas.openxmlformats.org/drawingml/2006/main">
              <a:ext uri="{FF2B5EF4-FFF2-40B4-BE49-F238E27FC236}">
                <a16:creationId xmlns:a16="http://schemas.microsoft.com/office/drawing/2014/main" id="{902D1970-3EAA-4AB9-BAE7-09B6A4500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DF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63108852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879E13DF-947D-4825-955E-FAF7CD3AC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C4585497-ADAA-4F55-8846-EA92D9DE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One judge-ready surface. Every claim stays inspectable.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2245F7AA-E7EF-43F2-9204-FA70D8BB0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3688CD90-35D7-49DB-8FD1-F591092CC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FACFA8E3-37CD-4F79-AB1D-09F6F023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EVIDENCE DRAWER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Redacted-by-default evidence, source attribution, charts, and deliberate reveal.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7F26828F-B6BA-4272-931C-39D620D4E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GROUNDED VOICE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Narration and Q&amp;A cite only current, non-rejected findings.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42AB7C13-F7AE-48EA-8C43-ED1CB76D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E37D8E2A-E7F3-476E-8ACF-CF0233A5A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24D2D6D8-1448-42CD-A50C-A75121E4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50911C41-F39B-49CF-ABF3-B593413D7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LIVE 3D GRAPH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Hop depth, severity, verification, and attack paths become readable spatial signals.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4EF338CF-5BAB-4FB2-8219-BF80F452E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BAB49F3E-FEFF-4AA3-ACDE-6BDA9801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EXPERIENCE LAYER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graph grows from backend findings in real time.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Every interaction preserves provenance and user control.</a:t>
            </a:r>
          </a:p>
        </p:txBody>
      </p:sp>
      <p:sp>
        <p:nvSpPr>
          <p:cNvPr id="13" name="accent-3">
            <a:extLst xmlns:a="http://schemas.openxmlformats.org/drawingml/2006/main">
              <a:ext uri="{FF2B5EF4-FFF2-40B4-BE49-F238E27FC236}">
                <a16:creationId xmlns:a16="http://schemas.microsoft.com/office/drawing/2014/main" id="{FFEBD037-E246-4DD7-B217-5D7DF03FB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DF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0414319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1DD6D84E-21D2-4A1A-8812-63A969A50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1E72A8C3-536E-451B-9587-DFEAAD27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visual language communicates risk before a label is read.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67EFAF96-3F4B-40B9-BD40-C0E0F55D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POSITION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Z is hop depth. Node height and glow are severity. Lit lines are active attack paths.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4ABE4DDB-CE06-4761-9BD7-1E6BA128A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CONSEQUENCE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Simulated fixes darken nodes and break paths; irreversible nodes explicitly refuse.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3D5DBFB7-240C-4E5B-A623-FA9C8D17F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STATE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Color encodes verification. New approvals materialize live; rejection prunes descendants.</a:t>
            </a:r>
          </a:p>
        </p:txBody>
      </p:sp>
      <p:sp>
        <p:nvSpPr>
          <p:cNvPr id="6" name="accent-4">
            <a:extLst xmlns:a="http://schemas.openxmlformats.org/drawingml/2006/main">
              <a:ext uri="{FF2B5EF4-FFF2-40B4-BE49-F238E27FC236}">
                <a16:creationId xmlns:a16="http://schemas.microsoft.com/office/drawing/2014/main" id="{999590CF-7E85-49E5-A1C7-FD03057F5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DF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4802194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718E26D8-99DE-4DC8-BE26-970D13D0F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20BAF02A-DE48-4394-9F14-A8055620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experience stays live through every human interrupt.</a:t>
            </a:r>
          </a:p>
        </p:txBody>
      </p:sp>
      <p:cxnSp>
        <p:nvCxnSpPr>
          <p:cNvPr id="16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88467135-03AD-4DC1-AA51-7CD686FC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5A601E45-3997-4A0D-B05A-590CDAE3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78EACA5C-4811-48C8-BDAE-AC7513B43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AC78076B-8E20-44A9-8B30-690F43E55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9E83547D-6B02-47E2-827C-C6450F7E2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1177C482-67F1-4A28-BBD4-D704DCBE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65A1C38C-90F5-4AAD-BF3E-10B4D457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HUMAN DECIDES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Approve, reject, expand, edit, or change persona without leaving the graph.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6919B64A-9E85-4256-AD47-AA7DC618B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FINDING ARRIVES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server emits a proposed or verified finding and the scene materializes it.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FFD8F708-89B3-4BE4-80DE-B51497B9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GRAPH RECOMPUTES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Optimistic feedback reconciles with the server snapshot, score, paths, and narration.</a:t>
            </a:r>
          </a:p>
        </p:txBody>
      </p:sp>
      <p:sp>
        <p:nvSpPr>
          <p:cNvPr id="13" name="accent-5">
            <a:extLst xmlns:a="http://schemas.openxmlformats.org/drawingml/2006/main">
              <a:ext uri="{FF2B5EF4-FFF2-40B4-BE49-F238E27FC236}">
                <a16:creationId xmlns:a16="http://schemas.microsoft.com/office/drawing/2014/main" id="{5773E9A3-CC93-4DF9-A640-AE36DE57D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DF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639864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2DEDDA97-2BB6-4D20-9E6B-DF870427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F73E0328-17DB-481C-853B-222BBCCD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DCA64737-31D6-4D97-8805-E5422607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52A21D2F-1168-4E3B-B7AB-45DDC8022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6BD1ED4B-BDE3-4EDB-8F19-3EF983395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Remediation makes the score move—and explains what cannot.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FC76B8E3-D4B9-4E24-98C3-47783998C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EXPOSURE
BEFORE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42941C84-E44E-41BD-8749-96D3EBB54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PERMANENT
NODE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A443A1E2-9B2D-42B9-8A2B-CAC3F57FF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PROJECTED
AFTER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E595B6BC-CAFA-4C58-AFB6-B04689622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78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3CEAEF60-102D-4562-96C9-A02A8C7F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42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832901A2-8358-434F-B69C-24C8631B2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9AD04D32-ED99-462F-86D0-C224A9092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ILLUSTRATIVE DEMO SESSION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preview is computed before any external action. The product visualizes both the projected reduction and permanent residue.</a:t>
            </a:r>
          </a:p>
        </p:txBody>
      </p:sp>
      <p:sp>
        <p:nvSpPr>
          <p:cNvPr id="13" name="accent-6">
            <a:extLst xmlns:a="http://schemas.openxmlformats.org/drawingml/2006/main">
              <a:ext uri="{FF2B5EF4-FFF2-40B4-BE49-F238E27FC236}">
                <a16:creationId xmlns:a16="http://schemas.microsoft.com/office/drawing/2014/main" id="{D10C75AE-05E1-4D4B-AC82-2209312F0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DF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0958750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064892F8-22CA-49A3-AFE9-051C3FB97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07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B9B01634-992F-4EF4-BBFD-61AA5DFE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Privacy is visible product behavior—not a background promise.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E4194393-C8BA-440C-8110-B52845AA9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22406"/>
            <a:ext cx="5537168" cy="8651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experience constrains exposure at every layer: evidence, maps, voice, session state, and destructive actions.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5D6F18FC-89B5-4147-B296-4634933B4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2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REDACTION</a:t>
            </a:r>
          </a:p>
        </p:txBody>
      </p:sp>
      <p:sp>
        <p:nvSpPr>
          <p:cNvPr id="5" name="Google-Shape-340-p61-6">
            <a:extLst xmlns:a="http://schemas.openxmlformats.org/drawingml/2006/main">
              <a:ext uri="{FF2B5EF4-FFF2-40B4-BE49-F238E27FC236}">
                <a16:creationId xmlns:a16="http://schemas.microsoft.com/office/drawing/2014/main" id="{8909A375-8BA8-4DAA-B46C-4059D15C1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0151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6" name="TextBox-11-7">
            <a:extLst xmlns:a="http://schemas.openxmlformats.org/drawingml/2006/main">
              <a:ext uri="{FF2B5EF4-FFF2-40B4-BE49-F238E27FC236}">
                <a16:creationId xmlns:a16="http://schemas.microsoft.com/office/drawing/2014/main" id="{06AE47D4-AF3D-4CCC-9BB0-4BF45E390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90279"/>
            <a:ext cx="5537168" cy="28846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Redact by default • reveal by explicit click • jitter map coordinates</a:t>
            </a:r>
          </a:p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Scrub voice input/output • exclude rejected nodes • wipe ephemeral sessions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7397C4AC-4439-4025-80CA-1918FA41A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8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REVEAL</a:t>
            </a:r>
          </a:p>
        </p:txBody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070B5CE3-BD35-4C6F-B084-930E4A254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6247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24A041B0-A250-4013-AA5A-C11C1C1B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813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GROUNDING</a:t>
            </a:r>
          </a:p>
        </p:txBody>
      </p:sp>
      <p:sp>
        <p:nvSpPr>
          <p:cNvPr id="10" name="Google-Shape-340-p61-11">
            <a:extLst xmlns:a="http://schemas.openxmlformats.org/drawingml/2006/main">
              <a:ext uri="{FF2B5EF4-FFF2-40B4-BE49-F238E27FC236}">
                <a16:creationId xmlns:a16="http://schemas.microsoft.com/office/drawing/2014/main" id="{387C1977-40CA-4617-8EEC-7A1E07C7B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2395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1" name="Content-Placeholder-10-12">
            <a:extLst xmlns:a="http://schemas.openxmlformats.org/drawingml/2006/main">
              <a:ext uri="{FF2B5EF4-FFF2-40B4-BE49-F238E27FC236}">
                <a16:creationId xmlns:a16="http://schemas.microsoft.com/office/drawing/2014/main" id="{BD8BC499-18F6-4661-92F1-1E3C3FE47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17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REVERSIBILITY</a:t>
            </a:r>
          </a:p>
        </p:txBody>
      </p:sp>
      <p:sp>
        <p:nvSpPr>
          <p:cNvPr id="12" name="Google-Shape-340-p61-13">
            <a:extLst xmlns:a="http://schemas.openxmlformats.org/drawingml/2006/main">
              <a:ext uri="{FF2B5EF4-FFF2-40B4-BE49-F238E27FC236}">
                <a16:creationId xmlns:a16="http://schemas.microsoft.com/office/drawing/2014/main" id="{3E06C8EA-D53C-4A92-BEA4-FC03EF328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8491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3" name="Content-Placeholder-10-14">
            <a:extLst xmlns:a="http://schemas.openxmlformats.org/drawingml/2006/main">
              <a:ext uri="{FF2B5EF4-FFF2-40B4-BE49-F238E27FC236}">
                <a16:creationId xmlns:a16="http://schemas.microsoft.com/office/drawing/2014/main" id="{20C8B882-E0B5-43E7-B54A-0085A1A64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81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WIPE</a:t>
            </a:r>
          </a:p>
        </p:txBody>
      </p:sp>
      <p:sp>
        <p:nvSpPr>
          <p:cNvPr id="14" name="Google-Shape-340-p61-15">
            <a:extLst xmlns:a="http://schemas.openxmlformats.org/drawingml/2006/main">
              <a:ext uri="{FF2B5EF4-FFF2-40B4-BE49-F238E27FC236}">
                <a16:creationId xmlns:a16="http://schemas.microsoft.com/office/drawing/2014/main" id="{C6B6254B-D819-448A-8B90-650464134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5471541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5" name="accent-7">
            <a:extLst xmlns:a="http://schemas.openxmlformats.org/drawingml/2006/main">
              <a:ext uri="{FF2B5EF4-FFF2-40B4-BE49-F238E27FC236}">
                <a16:creationId xmlns:a16="http://schemas.microsoft.com/office/drawing/2014/main" id="{AF70C693-D188-499B-9D95-1EC4775E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DF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8574646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3-1">
            <a:extLst xmlns:a="http://schemas.openxmlformats.org/drawingml/2006/main">
              <a:ext uri="{FF2B5EF4-FFF2-40B4-BE49-F238E27FC236}">
                <a16:creationId xmlns:a16="http://schemas.microsoft.com/office/drawing/2014/main" id="{C834DB81-6414-4F29-9438-94F81C4A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Make exposure explainable.
Make action reversible.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46F34641-1F67-41DD-B5EC-178787BDC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LIVE GRAPH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VERIFIABLE EVIDENCE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PRIVACY-DISCIPLINED VOICE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AB4230A2-3F1B-4162-8973-0411E8D1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DDU MIRROR</a:t>
            </a:r>
          </a:p>
        </p:txBody>
      </p:sp>
      <p:sp>
        <p:nvSpPr>
          <p:cNvPr id="4" name="accent-8">
            <a:extLst xmlns:a="http://schemas.openxmlformats.org/drawingml/2006/main">
              <a:ext uri="{FF2B5EF4-FFF2-40B4-BE49-F238E27FC236}">
                <a16:creationId xmlns:a16="http://schemas.microsoft.com/office/drawing/2014/main" id="{2B1E16BE-B79D-4726-9000-4CA87BAA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D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node-840-0">
            <a:extLst xmlns:a="http://schemas.openxmlformats.org/drawingml/2006/main">
              <a:ext uri="{FF2B5EF4-FFF2-40B4-BE49-F238E27FC236}">
                <a16:creationId xmlns:a16="http://schemas.microsoft.com/office/drawing/2014/main" id="{7071D30B-670D-4191-A1F1-7BA3E91C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972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5DF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6" name="path-840-1">
            <a:extLst xmlns:a="http://schemas.openxmlformats.org/drawingml/2006/main">
              <a:ext uri="{FF2B5EF4-FFF2-40B4-BE49-F238E27FC236}">
                <a16:creationId xmlns:a16="http://schemas.microsoft.com/office/drawing/2014/main" id="{A7C0B720-E1EE-495B-9E79-98F0F7660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786313"/>
            <a:ext cx="642938" cy="347663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6D5DFB"/>
            </a:solidFill>
            <a:prstDash val="solid"/>
          </a:ln>
        </p:spPr>
      </p:sp>
      <p:sp>
        <p:nvSpPr>
          <p:cNvPr id="7" name="node-840-1">
            <a:extLst xmlns:a="http://schemas.openxmlformats.org/drawingml/2006/main">
              <a:ext uri="{FF2B5EF4-FFF2-40B4-BE49-F238E27FC236}">
                <a16:creationId xmlns:a16="http://schemas.microsoft.com/office/drawing/2014/main" id="{13B12F6A-A120-4C27-825F-6C19BD008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66725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8A6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8" name="path-840-2">
            <a:extLst xmlns:a="http://schemas.openxmlformats.org/drawingml/2006/main">
              <a:ext uri="{FF2B5EF4-FFF2-40B4-BE49-F238E27FC236}">
                <a16:creationId xmlns:a16="http://schemas.microsoft.com/office/drawing/2014/main" id="{7C3A1744-F56C-4861-BBAA-5721CC96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863" y="4786313"/>
            <a:ext cx="385763" cy="785813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6D5DFB"/>
            </a:solidFill>
            <a:prstDash val="solid"/>
          </a:ln>
        </p:spPr>
      </p:sp>
      <p:sp>
        <p:nvSpPr>
          <p:cNvPr id="9" name="node-840-2">
            <a:extLst xmlns:a="http://schemas.openxmlformats.org/drawingml/2006/main">
              <a:ext uri="{FF2B5EF4-FFF2-40B4-BE49-F238E27FC236}">
                <a16:creationId xmlns:a16="http://schemas.microsoft.com/office/drawing/2014/main" id="{1D756651-14C0-4CAD-B8F2-AF307724B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3721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65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0" name="path-840-3">
            <a:extLst xmlns:a="http://schemas.openxmlformats.org/drawingml/2006/main">
              <a:ext uri="{FF2B5EF4-FFF2-40B4-BE49-F238E27FC236}">
                <a16:creationId xmlns:a16="http://schemas.microsoft.com/office/drawing/2014/main" id="{63890D1D-8E14-4F91-921B-F3BC1C0A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33975"/>
            <a:ext cx="628650" cy="43815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6D5DFB"/>
            </a:solidFill>
            <a:prstDash val="solid"/>
          </a:ln>
        </p:spPr>
      </p:sp>
      <p:sp>
        <p:nvSpPr>
          <p:cNvPr id="11" name="node-840-3">
            <a:extLst xmlns:a="http://schemas.openxmlformats.org/drawingml/2006/main">
              <a:ext uri="{FF2B5EF4-FFF2-40B4-BE49-F238E27FC236}">
                <a16:creationId xmlns:a16="http://schemas.microsoft.com/office/drawing/2014/main" id="{460B61D3-BB0D-43F5-9055-A8FF3892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9911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5A7C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17916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2026-07-27T20:22:18.8920000Z</dcterms:created>
  <dcterms:modified xsi:type="dcterms:W3CDTF">2026-07-27T20:22:18.8930000Z</dcterms:modified>
</coreProperties>
</file>